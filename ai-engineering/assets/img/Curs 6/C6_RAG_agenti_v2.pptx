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417320"/>
            <a:ext cx="64008" cy="2377440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3258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50" kern="0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 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" y="1719072"/>
            <a:ext cx="7863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și agenți simpli:</a:t>
            </a:r>
            <a:endParaRPr lang="en-US" sz="3100" dirty="0"/>
          </a:p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context la răspuns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777240" y="312724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 folosește EchoChamber fragmentele recuperate în C5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3584448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C6 adaugă generarea cu LLM. C5 a construit regăsirea semantică.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C5 = caută contextul   ·   C6 = generează cu context   ·   C7 = controlează agenții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 suntem în pipeline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822960" cy="32004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88720"/>
            <a:ext cx="8138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188720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298448" y="1188720"/>
            <a:ext cx="7178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Prompturi și roluri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755648"/>
            <a:ext cx="8138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755648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98448" y="1755648"/>
            <a:ext cx="7178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tipologizat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322576"/>
            <a:ext cx="8138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322576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C5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98448" y="2322576"/>
            <a:ext cx="7178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Regăsire semantică — alegem contextul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2889504"/>
            <a:ext cx="8138160" cy="475488"/>
          </a:xfrm>
          <a:prstGeom prst="rect">
            <a:avLst/>
          </a:prstGeom>
          <a:solidFill>
            <a:srgbClr val="D6E4F0"/>
          </a:solidFill>
          <a:ln w="25400">
            <a:solidFill>
              <a:srgbClr val="2C5F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889504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C6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298448" y="2889504"/>
            <a:ext cx="7178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— generăm răspunsuri cu context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456432"/>
            <a:ext cx="8138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3456432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C7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98448" y="3456432"/>
            <a:ext cx="7178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Orchestrare — coordonăm agenții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4315968"/>
            <a:ext cx="8138160" cy="512064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315968"/>
            <a:ext cx="8138160" cy="512064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C5 a răspuns la «ce context vede modelul?». C6 răspunde la «ce face modelul cu acel context?».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 6.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822960" cy="32004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972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TEMATICĂ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1353312"/>
            <a:ext cx="40233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complet: context recuperat + răspuns generat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diferența dintre context factual și context discursiv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simplu = model + rol + context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șabloane de prompt pentru răspunsuri coerente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verificarea răspunsurilor generate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663440" y="10972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ACTIVITĂȚI + LIVRABILE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663440" y="1353312"/>
            <a:ext cx="39776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încărcăm rezultatele din C5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construim un prompt cu rol și context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generăm răspunsuri pentru un agent discursiv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C1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C6_01_rag_agent_response.ipynb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C1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core/agent.py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C1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outputs/c6_agent_tests.jsonl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33101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FINALUL C6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02920" y="356616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avem primul agent RAG funcțional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putem genera răspunsuri ancorate în corpus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putem verifica dacă răspunsul folosește fragmentele recuperate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facem cu fragmentele din C5?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822960" cy="32004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115568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 C5, sistemul returnează fragmente relevante dintr-o bulă discursivă.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 fragmentele nu sunt încă un răspuns. În C6 le transformăm în context pentru model.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920240"/>
          <a:ext cx="8138160" cy="2011680"/>
        </p:xfrm>
        <a:graphic>
          <a:graphicData uri="http://schemas.openxmlformats.org/drawingml/2006/table">
            <a:tbl>
              <a:tblPr/>
              <a:tblGrid>
                <a:gridCol w="2377440"/>
                <a:gridCol w="3017520"/>
                <a:gridCol w="27432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Variantă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 se întâmplă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Limită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Lipim fragmentele direct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brut, fără structură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Modelul îl poate ignora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Folosim un șablon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structurat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Răspuns mai stabil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Adăugăm rolul agentului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+ voce discursivă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Potrivit pentru EchoChamber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E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4315968"/>
            <a:ext cx="8138160" cy="512064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4315968"/>
            <a:ext cx="8138160" cy="512064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începe să devină util când contextul este formatat și folosit într-un răspuns.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complet = regăsire + generare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822960" cy="32004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115568"/>
            <a:ext cx="8138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nu înseamnă doar să avem un index vectorial.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sistem RAG caută fragmente relevante, le introduce într-un prompt și cere modelului să genereze un răspuns folosind acele fragmente.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20848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nou  →  regăsire semantică  →  context selectat  →  prompt cu rol  →  LLM  →  răspuns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709160" y="2724912"/>
            <a:ext cx="0" cy="594360"/>
          </a:xfrm>
          <a:prstGeom prst="line">
            <a:avLst/>
          </a:prstGeom>
          <a:noFill/>
          <a:ln w="10160">
            <a:solidFill>
              <a:srgbClr val="CBD5E1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2743200" y="3337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C5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846320" y="3337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C6 →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382219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C5 a construit regăsirea semantică. C6 adaugă generarea.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4315968"/>
            <a:ext cx="8138160" cy="512064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4315968"/>
            <a:ext cx="8138160" cy="512064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C5 = selectează contextul.   C6 = generează cu context.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LLM-ul nu vede corpusul. Vede contextul selectat.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822960" cy="32004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115568"/>
            <a:ext cx="8138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Corpusul poate avea mii de comentarii. Modelul nu primește tot corpusul.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primește doar câteva fragmente selectate prin regăsire semantică.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aceea, răspunsul depinde de ce intră în context.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2212848"/>
            <a:ext cx="3703320" cy="1874520"/>
          </a:xfrm>
          <a:prstGeom prst="rect">
            <a:avLst/>
          </a:prstGeom>
          <a:solidFill>
            <a:srgbClr val="F8F8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23042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CORPUSUL COMPLET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58368" y="2633472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 este eficient și nici metodologic util să trimitem tot corpusul în prompt.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34840" y="2212848"/>
            <a:ext cx="4251960" cy="1874520"/>
          </a:xfrm>
          <a:prstGeom prst="rect">
            <a:avLst/>
          </a:prstGeom>
          <a:solidFill>
            <a:srgbClr val="D6E4F0"/>
          </a:solidFill>
          <a:ln w="25400">
            <a:solidFill>
              <a:srgbClr val="2C5F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0288" y="230428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SELECTAT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90288" y="2633472"/>
            <a:ext cx="39136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fragmente + instrucțiuni + rol.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nu intră în context nu poate influența răspunsul.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041648" y="2834640"/>
            <a:ext cx="384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02920" y="4315968"/>
            <a:ext cx="8138160" cy="512064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4315968"/>
            <a:ext cx="8138160" cy="512064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nu intră în context nu poate influența răspunsul.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Două tipuri de context în EchoChamber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822960" cy="32004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43000"/>
          <a:ext cx="8138160" cy="1645920"/>
        </p:xfrm>
        <a:graphic>
          <a:graphicData uri="http://schemas.openxmlformats.org/drawingml/2006/table">
            <a:tbl>
              <a:tblPr/>
              <a:tblGrid>
                <a:gridCol w="2011680"/>
                <a:gridCol w="3200400"/>
                <a:gridCol w="29260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 context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 conține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 produce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Factual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știri, date, surse oficiale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răspuns verificabil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Discursiv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comentarii, retorici, tonuri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voce de bulă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E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2487168"/>
            <a:ext cx="8138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 EchoChamber, lucrăm mai ales cu context discursiv.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 vrem doar să aflăm «ce este adevărat», ci și «cum este interpretat evenimentul într-o bulă».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4315968"/>
            <a:ext cx="8138160" cy="512064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4315968"/>
            <a:ext cx="8138160" cy="512064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Contextul factual susține verificarea. Contextul discursiv susține simularea unei voci sociale.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Bulele sunt în context, nu în model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822960" cy="32004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115568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Folosim același model lingvistic pentru mai multe bule.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Diferența vine din corpusul recuperat și din rolul atribuit agentului.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Dacă schimbăm contextul, schimbăm comportamentul.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19933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ACELAȘI INPUT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2240280"/>
            <a:ext cx="8138160" cy="475488"/>
          </a:xfrm>
          <a:prstGeom prst="rect">
            <a:avLst/>
          </a:prstGeom>
          <a:solidFill>
            <a:srgbClr val="EFF3F7"/>
          </a:solidFill>
          <a:ln w="10160">
            <a:solidFill>
              <a:srgbClr val="C8D5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240280"/>
            <a:ext cx="7818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«CCR a decis anularea alegerilor după suspiciuni privind influențe externe.»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852928"/>
          <a:ext cx="8138160" cy="1901952"/>
        </p:xfrm>
        <a:graphic>
          <a:graphicData uri="http://schemas.openxmlformats.org/drawingml/2006/table">
            <a:tbl>
              <a:tblPr/>
              <a:tblGrid>
                <a:gridCol w="2194560"/>
                <a:gridCol w="59436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/ Context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Răspuns probabil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Anti-sistem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accent pe neîncredere în instituții; ele apar ca suspecte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Conspiraționist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accent pe forțe ascunse și coordonare externă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Pro-european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accent pe proceduri, reguli și stabilitate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E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02920" y="4315968"/>
            <a:ext cx="8138160" cy="512064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4315968"/>
            <a:ext cx="8138160" cy="512064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Modelul este același. Contextul produce diferența de voce.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simplu = model + rol + context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822960" cy="32004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11556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 =  model  +  rol  +  context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2920" y="173736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Modelul generează limbaj. Rolul stabilește vocea și regulile răspunsului. Contextul ancorează răspunsul în date.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331720"/>
          <a:ext cx="8138160" cy="2011680"/>
        </p:xfrm>
        <a:graphic>
          <a:graphicData uri="http://schemas.openxmlformats.org/drawingml/2006/table">
            <a:tbl>
              <a:tblPr/>
              <a:tblGrid>
                <a:gridCol w="2926080"/>
                <a:gridCol w="52120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Componentă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Fără ea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 există răspuns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răspuns generic, fără voce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răspuns neancorat în corpus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E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4315968"/>
            <a:ext cx="8138160" cy="512064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4315968"/>
            <a:ext cx="8138160" cy="512064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 C6 agentul nu are încă memorie conversațională. Este un agent simplu, apel cu apel.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Șablonul de prompt controlează răspunsul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822960" cy="32004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115568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 loc să scriem manual prompturi diferite, folosim un șablon.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Șablonul stabilește ce primește modelul de fiecare dată: rol, input, context și formatul răspunsului.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938528"/>
            <a:ext cx="4389120" cy="2148840"/>
          </a:xfrm>
          <a:prstGeom prst="rect">
            <a:avLst/>
          </a:prstGeom>
          <a:solidFill>
            <a:srgbClr val="EFF3F7"/>
          </a:solidFill>
          <a:ln w="12700">
            <a:solidFill>
              <a:srgbClr val="C8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048256"/>
            <a:ext cx="411480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Șablonul de prompt al agentului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 agent: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{agent_role}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Input: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{input_text}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 recuperat: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{retrieved_context}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Sarcină: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Răspunde în vocea agentului, folosind doar contextul relevant.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4920" y="1938528"/>
            <a:ext cx="3566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Fiecare variabilă ({agent_role}, {input_text}, {retrieved_context}) este completată dinamic pentru fiecare apel.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Șablonul face răspunsurile comparabile între bule și auditabile.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4315968"/>
            <a:ext cx="8138160" cy="512064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4315968"/>
            <a:ext cx="8138160" cy="512064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Șablonul face răspunsurile comparabile între bule.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 arată un prompt RAG bun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822960" cy="32004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972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PATRU ELEMENTE OBLIGATORII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1353312"/>
            <a:ext cx="81381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Definește rolul agentului.</a:t>
            </a:r>
            <a:endParaRPr lang="en-US" sz="11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inputul nou.</a:t>
            </a:r>
            <a:endParaRPr lang="en-US" sz="11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fragmentele recuperate.</a:t>
            </a:r>
            <a:endParaRPr lang="en-US" sz="11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 explicit folosirea contextului și evitarea inventării.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3218688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prompt RAG bun nu spune doar «răspunde». El spune din ce poziție răspunde agentul, ce context are voie să folosească și ce format trebuie să respecte.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4315968"/>
            <a:ext cx="8138160" cy="512064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315968"/>
            <a:ext cx="8138160" cy="512064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slab = context lipit la întâmplare.   RAG bun = context selectat + instrucțiuni clare.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Același input, comportamente diferite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822960" cy="32004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789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8138160" cy="475488"/>
          </a:xfrm>
          <a:prstGeom prst="rect">
            <a:avLst/>
          </a:prstGeom>
          <a:solidFill>
            <a:srgbClr val="EFF3F7"/>
          </a:solidFill>
          <a:ln w="10160">
            <a:solidFill>
              <a:srgbClr val="C8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325880"/>
            <a:ext cx="7818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«CCR a decis anularea alegerilor după suspiciuni privind influențe externe.»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920240"/>
          <a:ext cx="8138160" cy="2514600"/>
        </p:xfrm>
        <a:graphic>
          <a:graphicData uri="http://schemas.openxmlformats.org/drawingml/2006/table">
            <a:tbl>
              <a:tblPr/>
              <a:tblGrid>
                <a:gridCol w="2194560"/>
                <a:gridCol w="59436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Condiție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Răspuns probabil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Fără RAG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răspuns generic despre instituții și alegeri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Anti-sistem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accent pe neîncredere în instituții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Conspiraționist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accent pe forțe ascunse și coordonare externă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Pro-european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accent pe proceduri, reguli și stabilitate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E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02920" y="4315968"/>
            <a:ext cx="8138160" cy="512064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4315968"/>
            <a:ext cx="8138160" cy="512064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Diferența nu vine doar din prompt. Vine din combinația rol + context.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Erori frecvente în agenții RAG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822960" cy="32004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15568"/>
          <a:ext cx="8138160" cy="2514600"/>
        </p:xfrm>
        <a:graphic>
          <a:graphicData uri="http://schemas.openxmlformats.org/drawingml/2006/table">
            <a:tbl>
              <a:tblPr/>
              <a:tblGrid>
                <a:gridCol w="1737360"/>
                <a:gridCol w="3108960"/>
                <a:gridCol w="32918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Problemă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Simptom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slab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răspuns convingător, dar neancorat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curățare corpus + top-k mai bun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 slab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toate bulele sună la fel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 mai clar și mai specific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ignorat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modelul inventează peste fragmente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instrucțiune explicită + format verificabil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prea lung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răspunsul pierde firul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mai scurt și mai relevant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E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4315968"/>
            <a:ext cx="8138160" cy="512064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4315968"/>
            <a:ext cx="8138160" cy="512064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agent RAG nu e bun doar pentru că folosește RAG. Trebuie verificat.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oferă control parțial, nu adevăr garantat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822960" cy="32004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115568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ajută modelul să răspundă pe baza unui corpus, dar nu garantează adevărul.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Dacă datele sunt slabe, dacă regăsirea e greșită sau dacă promptul e vag, răspunsul poate fi problematic.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1938528"/>
            <a:ext cx="40233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slab → răspuns slab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irelevant → răspuns irelevant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 vag → voce generică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prea liber → halucinații peste context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63440" y="1938528"/>
            <a:ext cx="3977640" cy="1645920"/>
          </a:xfrm>
          <a:prstGeom prst="rect">
            <a:avLst/>
          </a:prstGeom>
          <a:solidFill>
            <a:srgbClr val="F8F8F8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00600" y="2029968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 verifică?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00600" y="2423160"/>
            <a:ext cx="37033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Omul verifică răspunsul: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Este ancorat în corpus?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Reflectă vocea bulei?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Este factual verificabil?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4315968"/>
            <a:ext cx="8138160" cy="512064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4315968"/>
            <a:ext cx="8138160" cy="512064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reduce riscul, dar nu elimină nevoia de verificare umană.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simplu sau agent cu memorie?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822960" cy="32004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15568"/>
          <a:ext cx="8138160" cy="2514600"/>
        </p:xfrm>
        <a:graphic>
          <a:graphicData uri="http://schemas.openxmlformats.org/drawingml/2006/table">
            <a:tbl>
              <a:tblPr/>
              <a:tblGrid>
                <a:gridCol w="1737360"/>
                <a:gridCol w="3200400"/>
                <a:gridCol w="32004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simplu — C6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cu memorie — C7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apeluri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independente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legate prin istoric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 în prompt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menținut în stare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complexitate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mică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 mare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răspuns ancorat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conversație și orchestrare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E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365760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 C6 construim fundația: un agent care răspunde la un input folosind context.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 C7 adăugăm memorie, stare și coordonare între agenți.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4315968"/>
            <a:ext cx="8138160" cy="512064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4315968"/>
            <a:ext cx="8138160" cy="512064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C6 = fundația.   C7 = orchestrarea.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 știm că agentul funcționează?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822960" cy="32004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15568"/>
          <a:ext cx="8138160" cy="2514600"/>
        </p:xfrm>
        <a:graphic>
          <a:graphicData uri="http://schemas.openxmlformats.org/drawingml/2006/table">
            <a:tbl>
              <a:tblPr/>
              <a:tblGrid>
                <a:gridCol w="2651760"/>
                <a:gridCol w="54864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Întrebare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8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Folosește contextul?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Apar informații din fragmentele recuperate?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Păstrează rolul?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Tonul rămâne coerent cu bula?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 stabil?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Răspunde similar la același input?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 verificabil?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Putem vedea ce fragmente au fost folosite?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E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365760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 evaluăm încă sistemul complet. Facem o verificare minimă, suficientă pentru laborator.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4315968"/>
            <a:ext cx="8138160" cy="512064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4315968"/>
            <a:ext cx="8138160" cy="512064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răspuns bun trebuie să fie ancorat, coerent și verificabil.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 C6: ce construim azi?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822960" cy="32004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972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5943600" cy="384048"/>
          </a:xfrm>
          <a:prstGeom prst="rect">
            <a:avLst/>
          </a:prstGeom>
          <a:solidFill>
            <a:srgbClr val="EFF3F7"/>
          </a:solidFill>
          <a:ln w="12700">
            <a:solidFill>
              <a:srgbClr val="C8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81328"/>
            <a:ext cx="56692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notebooks/student_XX/C6_01_rag_agent_response.ipynb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81051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PAȘI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2066544"/>
            <a:ext cx="5943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încărcăm indexul FAISS și metadatele din C5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alegem agentul / bula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recuperăm top-k fragmente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construim promptul cu rol și context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apelăm LLM-ul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salvăm răspunsul și fragmentele folosite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0" y="10972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FIȘIERE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583680" y="1389888"/>
            <a:ext cx="21031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C1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core/agent.py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C1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prompts/agent_response_template.md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C1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outputs/c6_agent_tests.jsonl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4315968"/>
            <a:ext cx="8138160" cy="512064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4315968"/>
            <a:ext cx="8138160" cy="512064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final, fiecare student poate genera un răspuns RAG pentru agentul său.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finalul C6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9601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Sistemul produce primele răspunsuri reale ancorate în corpus.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Pentru fiecare input, putem vedea: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1572768"/>
            <a:ext cx="813816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agent a răspuns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fragmente au fost recuperate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prompt a fost trimis modelului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răspuns a fost generat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3090672"/>
            <a:ext cx="8138160" cy="658368"/>
          </a:xfrm>
          <a:prstGeom prst="rect">
            <a:avLst/>
          </a:prstGeom>
          <a:solidFill>
            <a:srgbClr val="12182E"/>
          </a:solidFill>
          <a:ln w="12700">
            <a:solidFill>
              <a:srgbClr val="2C3E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090672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C5 = selectează contextul   ·   C6 = generează cu context   ·   C7 = orchestrează agenții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4315968"/>
            <a:ext cx="8138160" cy="512064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315968"/>
            <a:ext cx="8138160" cy="512064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C6 transformă memoria semantică din C5 într-un agent RAG funcțional.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Curs 6 – RAG și agenți simpli: de la context la răspuns</dc:title>
  <dc:subject>PptxGenJS Presentation</dc:subject>
  <dc:creator>PptxGenJS</dc:creator>
  <cp:lastModifiedBy>PptxGenJS</cp:lastModifiedBy>
  <cp:revision>1</cp:revision>
  <dcterms:created xsi:type="dcterms:W3CDTF">2026-05-11T18:29:43Z</dcterms:created>
  <dcterms:modified xsi:type="dcterms:W3CDTF">2026-05-11T18:29:43Z</dcterms:modified>
</cp:coreProperties>
</file>